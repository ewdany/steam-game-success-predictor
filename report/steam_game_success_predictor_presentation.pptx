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3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 type="screen16x9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<Relationship Id="rId9" Type="http://schemas.openxmlformats.org/officeDocument/2006/relationships/slide" Target="slides/slide9.xml"/>
<Relationship Id="rId10" Type="http://schemas.openxmlformats.org/officeDocument/2006/relationships/slide" Target="slides/slide10.xml"/>
<Relationship Id="rId11" Type="http://schemas.openxmlformats.org/officeDocument/2006/relationships/slide" Target="slides/slide11.xml"/>
<Relationship Id="rId12" Type="http://schemas.openxmlformats.org/officeDocument/2006/relationships/slide" Target="slides/slide12.xml"/>
<Relationship Id="rId13" Type="http://schemas.openxmlformats.org/officeDocument/2006/relationships/slideMaster" Target="slideMasters/slideMaster1.xml"/>
<Relationship Id="rId14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treamlit_main_form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ml_workflow_diagram.pn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arget_distribution.pn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notebook_target_preprocessing.pn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model_accuracy_comparison.pn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notebook_knn_code.png"/><Relationship Id="rId3" Type="http://schemas.openxmlformats.org/officeDocument/2006/relationships/image" Target="../media/notebook_random_forest_code.pn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notebook_deep_learning_code.pn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deep_learning_training_1.png"/><Relationship Id="rId3" Type="http://schemas.openxmlformats.org/officeDocument/2006/relationships/image" Target="../media/deep_learning_training_2.pn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ode_cross_validation.png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treamlit_successful_prediction.png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ode_combined_deployment.png"/><Relationship Id="rId3" Type="http://schemas.openxmlformats.org/officeDocument/2006/relationships/image" Target="../media/code_prediction_logic.png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treamlit_unsuccessful_prediction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000" b="1">
                <a:solidFill>
                  <a:srgbClr val="172033"/>
                </a:solidFill>
              </a:rPr>
              <a:t>Steam Game Success Predictor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8640" y="86868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800" b="0">
                <a:solidFill>
                  <a:srgbClr val="44546A"/>
                </a:solidFill>
              </a:rPr>
              <a:t>KNN, SVM, Random Forest and Deep Learning</a:t>
            </a:r>
          </a:p>
        </p:txBody>
      </p:sp>
      <p:sp>
        <p:nvSpPr>
          <p:cNvPr id="4" name="Bullets 4"/>
          <p:cNvSpPr txBox="1"/>
          <p:nvPr/>
        </p:nvSpPr>
        <p:spPr>
          <a:xfrm>
            <a:off x="502920" y="1325880"/>
            <a:ext cx="3749039" cy="438912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1800">
                <a:solidFill>
                  <a:srgbClr val="172033"/>
                </a:solidFill>
              </a:rPr>
              <a:t>Binary classification project based on Steam game data</a:t>
            </a:r>
          </a:p>
          <a:p>
            <a:pPr marL="342900" indent="-171450">
              <a:buChar char="•"/>
            </a:pPr>
            <a:r>
              <a:rPr lang="en-US" sz="1800">
                <a:solidFill>
                  <a:srgbClr val="172033"/>
                </a:solidFill>
              </a:rPr>
              <a:t>Four trained models compared in one Streamlit deployment</a:t>
            </a:r>
          </a:p>
          <a:p>
            <a:pPr marL="342900" indent="-171450">
              <a:buChar char="•"/>
            </a:pPr>
            <a:r>
              <a:rPr lang="en-US" sz="1800">
                <a:solidFill>
                  <a:srgbClr val="172033"/>
                </a:solidFill>
              </a:rPr>
              <a:t>Includes evaluation, cross-validation and documentation</a:t>
            </a:r>
          </a:p>
        </p:txBody>
      </p:sp>
      <p:pic>
        <p:nvPicPr>
          <p:cNvPr id="5" name="streamlit_main_form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4343400" y="1051560"/>
            <a:ext cx="5904411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000" b="1">
                <a:solidFill>
                  <a:srgbClr val="172033"/>
                </a:solidFill>
              </a:rPr>
              <a:t>Project Goal</a:t>
            </a:r>
          </a:p>
        </p:txBody>
      </p:sp>
      <p:sp>
        <p:nvSpPr>
          <p:cNvPr id="4" name="Bullets 4"/>
          <p:cNvSpPr txBox="1"/>
          <p:nvPr/>
        </p:nvSpPr>
        <p:spPr>
          <a:xfrm>
            <a:off x="502920" y="960120"/>
            <a:ext cx="3749039" cy="438912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1800">
                <a:solidFill>
                  <a:srgbClr val="172033"/>
                </a:solidFill>
              </a:rPr>
              <a:t>Predict whether a Steam game is successful or not successful</a:t>
            </a:r>
          </a:p>
          <a:p>
            <a:pPr marL="342900" indent="-171450">
              <a:buChar char="•"/>
            </a:pPr>
            <a:r>
              <a:rPr lang="en-US" sz="1800">
                <a:solidFill>
                  <a:srgbClr val="172033"/>
                </a:solidFill>
              </a:rPr>
              <a:t>Use numerical features such as reviews, playtime, price and CCU</a:t>
            </a:r>
          </a:p>
          <a:p>
            <a:pPr marL="342900" indent="-171450">
              <a:buChar char="•"/>
            </a:pPr>
            <a:r>
              <a:rPr lang="en-US" sz="1800">
                <a:solidFill>
                  <a:srgbClr val="172033"/>
                </a:solidFill>
              </a:rPr>
              <a:t>Compare classical ML models with a neural network</a:t>
            </a:r>
          </a:p>
          <a:p>
            <a:pPr marL="342900" indent="-171450">
              <a:buChar char="•"/>
            </a:pPr>
            <a:r>
              <a:rPr lang="en-US" sz="1800">
                <a:solidFill>
                  <a:srgbClr val="172033"/>
                </a:solidFill>
              </a:rPr>
              <a:t>Deploy all models in a single interactive application</a:t>
            </a:r>
          </a:p>
        </p:txBody>
      </p:sp>
      <p:pic>
        <p:nvPicPr>
          <p:cNvPr id="5" name="ml_workflow_diagram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4343400" y="1051560"/>
            <a:ext cx="7086600" cy="1889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000" b="1">
                <a:solidFill>
                  <a:srgbClr val="172033"/>
                </a:solidFill>
              </a:rPr>
              <a:t>Dataset and Target Variable</a:t>
            </a:r>
          </a:p>
        </p:txBody>
      </p:sp>
      <p:sp>
        <p:nvSpPr>
          <p:cNvPr id="4" name="Bullets 4"/>
          <p:cNvSpPr txBox="1"/>
          <p:nvPr/>
        </p:nvSpPr>
        <p:spPr>
          <a:xfrm>
            <a:off x="502920" y="960120"/>
            <a:ext cx="3749039" cy="438912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1800">
                <a:solidFill>
                  <a:srgbClr val="172033"/>
                </a:solidFill>
              </a:rPr>
              <a:t>Target variable: success</a:t>
            </a:r>
          </a:p>
          <a:p>
            <a:pPr marL="342900" indent="-171450">
              <a:buChar char="•"/>
            </a:pPr>
            <a:r>
              <a:rPr lang="en-US" sz="1800">
                <a:solidFill>
                  <a:srgbClr val="172033"/>
                </a:solidFill>
              </a:rPr>
              <a:t>Success is based on rating ratio and concurrent user activity</a:t>
            </a:r>
          </a:p>
          <a:p>
            <a:pPr marL="342900" indent="-171450">
              <a:buChar char="•"/>
            </a:pPr>
            <a:r>
              <a:rPr lang="en-US" sz="1800">
                <a:solidFill>
                  <a:srgbClr val="172033"/>
                </a:solidFill>
              </a:rPr>
              <a:t>Leakage columns are removed from improved models</a:t>
            </a:r>
          </a:p>
        </p:txBody>
      </p:sp>
      <p:pic>
        <p:nvPicPr>
          <p:cNvPr id="5" name="target_distribution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4343400" y="1051560"/>
            <a:ext cx="7086600" cy="44291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000" b="1">
                <a:solidFill>
                  <a:srgbClr val="172033"/>
                </a:solidFill>
              </a:rPr>
              <a:t>Preprocessing in Jupyter</a:t>
            </a:r>
          </a:p>
        </p:txBody>
      </p:sp>
      <p:sp>
        <p:nvSpPr>
          <p:cNvPr id="4" name="Bullets 4"/>
          <p:cNvSpPr txBox="1"/>
          <p:nvPr/>
        </p:nvSpPr>
        <p:spPr>
          <a:xfrm>
            <a:off x="502920" y="960120"/>
            <a:ext cx="3749039" cy="438912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1800">
                <a:solidFill>
                  <a:srgbClr val="172033"/>
                </a:solidFill>
              </a:rPr>
              <a:t>Create rating_ratio and success</a:t>
            </a:r>
          </a:p>
          <a:p>
            <a:pPr marL="342900" indent="-171450">
              <a:buChar char="•"/>
            </a:pPr>
            <a:r>
              <a:rPr lang="en-US" sz="1800">
                <a:solidFill>
                  <a:srgbClr val="172033"/>
                </a:solidFill>
              </a:rPr>
              <a:t>Remove text columns and leakage-related columns</a:t>
            </a:r>
          </a:p>
          <a:p>
            <a:pPr marL="342900" indent="-171450">
              <a:buChar char="•"/>
            </a:pPr>
            <a:r>
              <a:rPr lang="en-US" sz="1800">
                <a:solidFill>
                  <a:srgbClr val="172033"/>
                </a:solidFill>
              </a:rPr>
              <a:t>Prepare final feature matrix for model training</a:t>
            </a:r>
          </a:p>
        </p:txBody>
      </p:sp>
      <p:pic>
        <p:nvPicPr>
          <p:cNvPr id="5" name="notebook_target_preprocessing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4343400" y="1051560"/>
            <a:ext cx="7086600" cy="346575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000" b="1">
                <a:solidFill>
                  <a:srgbClr val="172033"/>
                </a:solidFill>
              </a:rPr>
              <a:t>Implemented Models</a:t>
            </a:r>
          </a:p>
        </p:txBody>
      </p:sp>
      <p:sp>
        <p:nvSpPr>
          <p:cNvPr id="4" name="Bullets 4"/>
          <p:cNvSpPr txBox="1"/>
          <p:nvPr/>
        </p:nvSpPr>
        <p:spPr>
          <a:xfrm>
            <a:off x="502920" y="960120"/>
            <a:ext cx="3749039" cy="438912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1800">
                <a:solidFill>
                  <a:srgbClr val="172033"/>
                </a:solidFill>
              </a:rPr>
              <a:t>KNN: distance-based baseline model</a:t>
            </a:r>
          </a:p>
          <a:p>
            <a:pPr marL="342900" indent="-171450">
              <a:buChar char="•"/>
            </a:pPr>
            <a:r>
              <a:rPr lang="en-US" sz="1800">
                <a:solidFill>
                  <a:srgbClr val="172033"/>
                </a:solidFill>
              </a:rPr>
              <a:t>SVM: RBF kernel with balanced class weights</a:t>
            </a:r>
          </a:p>
          <a:p>
            <a:pPr marL="342900" indent="-171450">
              <a:buChar char="•"/>
            </a:pPr>
            <a:r>
              <a:rPr lang="en-US" sz="1800">
                <a:solidFill>
                  <a:srgbClr val="172033"/>
                </a:solidFill>
              </a:rPr>
              <a:t>Random Forest: tree ensemble for tabular data</a:t>
            </a:r>
          </a:p>
          <a:p>
            <a:pPr marL="342900" indent="-171450">
              <a:buChar char="•"/>
            </a:pPr>
            <a:r>
              <a:rPr lang="en-US" sz="1800">
                <a:solidFill>
                  <a:srgbClr val="172033"/>
                </a:solidFill>
              </a:rPr>
              <a:t>Deep Learning: dense neural network with sigmoid output</a:t>
            </a:r>
          </a:p>
        </p:txBody>
      </p:sp>
      <p:pic>
        <p:nvPicPr>
          <p:cNvPr id="5" name="model_accuracy_comparison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4343400" y="1051560"/>
            <a:ext cx="7086600" cy="393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000" b="1">
                <a:solidFill>
                  <a:srgbClr val="172033"/>
                </a:solidFill>
              </a:rPr>
              <a:t>Classical ML Notebook Code</a:t>
            </a:r>
          </a:p>
        </p:txBody>
      </p:sp>
      <p:sp>
        <p:nvSpPr>
          <p:cNvPr id="4" name="Bullets 4"/>
          <p:cNvSpPr txBox="1"/>
          <p:nvPr/>
        </p:nvSpPr>
        <p:spPr>
          <a:xfrm>
            <a:off x="502920" y="960120"/>
            <a:ext cx="3749039" cy="438912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1800">
                <a:solidFill>
                  <a:srgbClr val="172033"/>
                </a:solidFill>
              </a:rPr>
              <a:t>KNN and SVM use StandardScaler</a:t>
            </a:r>
          </a:p>
          <a:p>
            <a:pPr marL="342900" indent="-171450">
              <a:buChar char="•"/>
            </a:pPr>
            <a:r>
              <a:rPr lang="en-US" sz="1800">
                <a:solidFill>
                  <a:srgbClr val="172033"/>
                </a:solidFill>
              </a:rPr>
              <a:t>Random Forest uses class_weight='balanced'</a:t>
            </a:r>
          </a:p>
          <a:p>
            <a:pPr marL="342900" indent="-171450">
              <a:buChar char="•"/>
            </a:pPr>
            <a:r>
              <a:rPr lang="en-US" sz="1800">
                <a:solidFill>
                  <a:srgbClr val="172033"/>
                </a:solidFill>
              </a:rPr>
              <a:t>Models are evaluated with accuracy, classification report and confusion matrix</a:t>
            </a:r>
          </a:p>
        </p:txBody>
      </p:sp>
      <p:pic>
        <p:nvPicPr>
          <p:cNvPr id="5" name="notebook_knn_cod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4343400" y="960120"/>
            <a:ext cx="4882800" cy="2331720"/>
          </a:xfrm>
          <a:prstGeom prst="rect">
            <a:avLst/>
          </a:prstGeom>
        </p:spPr>
      </p:pic>
      <p:pic>
        <p:nvPicPr>
          <p:cNvPr id="6" name="notebook_random_forest_code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4343400" y="3566160"/>
            <a:ext cx="4752037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000" b="1">
                <a:solidFill>
                  <a:srgbClr val="172033"/>
                </a:solidFill>
              </a:rPr>
              <a:t>Deep Learning Model</a:t>
            </a:r>
          </a:p>
        </p:txBody>
      </p:sp>
      <p:sp>
        <p:nvSpPr>
          <p:cNvPr id="4" name="Bullets 4"/>
          <p:cNvSpPr txBox="1"/>
          <p:nvPr/>
        </p:nvSpPr>
        <p:spPr>
          <a:xfrm>
            <a:off x="502920" y="960120"/>
            <a:ext cx="3749039" cy="438912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1800">
                <a:solidFill>
                  <a:srgbClr val="172033"/>
                </a:solidFill>
              </a:rPr>
              <a:t>Neural network built with TensorFlow/Keras</a:t>
            </a:r>
          </a:p>
          <a:p>
            <a:pPr marL="342900" indent="-171450">
              <a:buChar char="•"/>
            </a:pPr>
            <a:r>
              <a:rPr lang="en-US" sz="1800">
                <a:solidFill>
                  <a:srgbClr val="172033"/>
                </a:solidFill>
              </a:rPr>
              <a:t>Dense layers with ReLU activations</a:t>
            </a:r>
          </a:p>
          <a:p>
            <a:pPr marL="342900" indent="-171450">
              <a:buChar char="•"/>
            </a:pPr>
            <a:r>
              <a:rPr lang="en-US" sz="1800">
                <a:solidFill>
                  <a:srgbClr val="172033"/>
                </a:solidFill>
              </a:rPr>
              <a:t>Sigmoid output for binary classification</a:t>
            </a:r>
          </a:p>
        </p:txBody>
      </p:sp>
      <p:pic>
        <p:nvPicPr>
          <p:cNvPr id="5" name="notebook_deep_learning_cod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4343400" y="1051560"/>
            <a:ext cx="7086600" cy="460570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000" b="1">
                <a:solidFill>
                  <a:srgbClr val="172033"/>
                </a:solidFill>
              </a:rPr>
              <a:t>Deep Learning Training Curves</a:t>
            </a:r>
          </a:p>
        </p:txBody>
      </p:sp>
      <p:sp>
        <p:nvSpPr>
          <p:cNvPr id="4" name="Bullets 4"/>
          <p:cNvSpPr txBox="1"/>
          <p:nvPr/>
        </p:nvSpPr>
        <p:spPr>
          <a:xfrm>
            <a:off x="502920" y="960120"/>
            <a:ext cx="3749039" cy="438912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1800">
                <a:solidFill>
                  <a:srgbClr val="172033"/>
                </a:solidFill>
              </a:rPr>
              <a:t>Accuracy increases during training</a:t>
            </a:r>
          </a:p>
          <a:p>
            <a:pPr marL="342900" indent="-171450">
              <a:buChar char="•"/>
            </a:pPr>
            <a:r>
              <a:rPr lang="en-US" sz="1800">
                <a:solidFill>
                  <a:srgbClr val="172033"/>
                </a:solidFill>
              </a:rPr>
              <a:t>Validation loss suggests possible later overfitting</a:t>
            </a:r>
          </a:p>
          <a:p>
            <a:pPr marL="342900" indent="-171450">
              <a:buChar char="•"/>
            </a:pPr>
            <a:r>
              <a:rPr lang="en-US" sz="1800">
                <a:solidFill>
                  <a:srgbClr val="172033"/>
                </a:solidFill>
              </a:rPr>
              <a:t>Final test accuracy is approximately 0.763</a:t>
            </a:r>
          </a:p>
        </p:txBody>
      </p:sp>
      <p:pic>
        <p:nvPicPr>
          <p:cNvPr id="5" name="deep_learning_training_1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4343400" y="960120"/>
            <a:ext cx="4241745" cy="2331720"/>
          </a:xfrm>
          <a:prstGeom prst="rect">
            <a:avLst/>
          </a:prstGeom>
        </p:spPr>
      </p:pic>
      <p:pic>
        <p:nvPicPr>
          <p:cNvPr id="6" name="deep_learning_training_2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4343400" y="3566160"/>
            <a:ext cx="4241745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000" b="1">
                <a:solidFill>
                  <a:srgbClr val="172033"/>
                </a:solidFill>
              </a:rPr>
              <a:t>Cross-Validation</a:t>
            </a:r>
          </a:p>
        </p:txBody>
      </p:sp>
      <p:sp>
        <p:nvSpPr>
          <p:cNvPr id="4" name="Bullets 4"/>
          <p:cNvSpPr txBox="1"/>
          <p:nvPr/>
        </p:nvSpPr>
        <p:spPr>
          <a:xfrm>
            <a:off x="502920" y="960120"/>
            <a:ext cx="3749039" cy="438912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1800">
                <a:solidFill>
                  <a:srgbClr val="172033"/>
                </a:solidFill>
              </a:rPr>
              <a:t>Added to KNN, SVM and Random Forest notebooks</a:t>
            </a:r>
          </a:p>
          <a:p>
            <a:pPr marL="342900" indent="-171450">
              <a:buChar char="•"/>
            </a:pPr>
            <a:r>
              <a:rPr lang="en-US" sz="1800">
                <a:solidFill>
                  <a:srgbClr val="172033"/>
                </a:solidFill>
              </a:rPr>
              <a:t>Mean accuracy shows average model performance</a:t>
            </a:r>
          </a:p>
          <a:p>
            <a:pPr marL="342900" indent="-171450">
              <a:buChar char="•"/>
            </a:pPr>
            <a:r>
              <a:rPr lang="en-US" sz="1800">
                <a:solidFill>
                  <a:srgbClr val="172033"/>
                </a:solidFill>
              </a:rPr>
              <a:t>Standard deviation shows model stability between folds</a:t>
            </a:r>
          </a:p>
          <a:p>
            <a:pPr marL="342900" indent="-171450">
              <a:buChar char="•"/>
            </a:pPr>
            <a:r>
              <a:rPr lang="en-US" sz="1800">
                <a:solidFill>
                  <a:srgbClr val="172033"/>
                </a:solidFill>
              </a:rPr>
              <a:t>KNN and SVM use Pipeline to avoid scaling leakage</a:t>
            </a:r>
          </a:p>
        </p:txBody>
      </p:sp>
      <p:pic>
        <p:nvPicPr>
          <p:cNvPr id="5" name="code_cross_validation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4343400" y="1051560"/>
            <a:ext cx="7086600" cy="35699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000" b="1">
                <a:solidFill>
                  <a:srgbClr val="172033"/>
                </a:solidFill>
              </a:rPr>
              <a:t>Combined Streamlit Deployment</a:t>
            </a:r>
          </a:p>
        </p:txBody>
      </p:sp>
      <p:sp>
        <p:nvSpPr>
          <p:cNvPr id="4" name="Bullets 4"/>
          <p:cNvSpPr txBox="1"/>
          <p:nvPr/>
        </p:nvSpPr>
        <p:spPr>
          <a:xfrm>
            <a:off x="502920" y="960120"/>
            <a:ext cx="3749039" cy="438912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1800">
                <a:solidFill>
                  <a:srgbClr val="172033"/>
                </a:solidFill>
              </a:rPr>
              <a:t>Root app.py loads all four saved models</a:t>
            </a:r>
          </a:p>
          <a:p>
            <a:pPr marL="342900" indent="-171450">
              <a:buChar char="•"/>
            </a:pPr>
            <a:r>
              <a:rPr lang="en-US" sz="1800">
                <a:solidFill>
                  <a:srgbClr val="172033"/>
                </a:solidFill>
              </a:rPr>
              <a:t>One input form is shared by all models</a:t>
            </a:r>
          </a:p>
          <a:p>
            <a:pPr marL="342900" indent="-171450">
              <a:buChar char="•"/>
            </a:pPr>
            <a:r>
              <a:rPr lang="en-US" sz="1800">
                <a:solidFill>
                  <a:srgbClr val="172033"/>
                </a:solidFill>
              </a:rPr>
              <a:t>Results are shown side by side with probability or score</a:t>
            </a:r>
          </a:p>
        </p:txBody>
      </p:sp>
      <p:pic>
        <p:nvPicPr>
          <p:cNvPr id="5" name="streamlit_successful_prediction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4343400" y="1051560"/>
            <a:ext cx="516636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000" b="1">
                <a:solidFill>
                  <a:srgbClr val="172033"/>
                </a:solidFill>
              </a:rPr>
              <a:t>Deployment Code</a:t>
            </a:r>
          </a:p>
        </p:txBody>
      </p:sp>
      <p:sp>
        <p:nvSpPr>
          <p:cNvPr id="4" name="Bullets 4"/>
          <p:cNvSpPr txBox="1"/>
          <p:nvPr/>
        </p:nvSpPr>
        <p:spPr>
          <a:xfrm>
            <a:off x="502920" y="960120"/>
            <a:ext cx="3749039" cy="438912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1800">
                <a:solidFill>
                  <a:srgbClr val="172033"/>
                </a:solidFill>
              </a:rPr>
              <a:t>Models and scalers are loaded from project folders</a:t>
            </a:r>
          </a:p>
          <a:p>
            <a:pPr marL="342900" indent="-171450">
              <a:buChar char="•"/>
            </a:pPr>
            <a:r>
              <a:rPr lang="en-US" sz="1800">
                <a:solidFill>
                  <a:srgbClr val="172033"/>
                </a:solidFill>
              </a:rPr>
              <a:t>SVM uses decision_function because it was trained without probability=True</a:t>
            </a:r>
          </a:p>
          <a:p>
            <a:pPr marL="342900" indent="-171450">
              <a:buChar char="•"/>
            </a:pPr>
            <a:r>
              <a:rPr lang="en-US" sz="1800">
                <a:solidFill>
                  <a:srgbClr val="172033"/>
                </a:solidFill>
              </a:rPr>
              <a:t>Preset buttons fill examples for successful and unsuccessful games</a:t>
            </a:r>
          </a:p>
        </p:txBody>
      </p:sp>
      <p:pic>
        <p:nvPicPr>
          <p:cNvPr id="5" name="code_combined_deployment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4343400" y="960120"/>
            <a:ext cx="3669792" cy="2331720"/>
          </a:xfrm>
          <a:prstGeom prst="rect">
            <a:avLst/>
          </a:prstGeom>
        </p:spPr>
      </p:pic>
      <p:pic>
        <p:nvPicPr>
          <p:cNvPr id="6" name="code_prediction_logic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4343400" y="3566160"/>
            <a:ext cx="3582451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000" b="1">
                <a:solidFill>
                  <a:srgbClr val="172033"/>
                </a:solidFill>
              </a:rPr>
              <a:t>Limitations and Future Work</a:t>
            </a:r>
          </a:p>
        </p:txBody>
      </p:sp>
      <p:sp>
        <p:nvSpPr>
          <p:cNvPr id="4" name="Bullets 4"/>
          <p:cNvSpPr txBox="1"/>
          <p:nvPr/>
        </p:nvSpPr>
        <p:spPr>
          <a:xfrm>
            <a:off x="502920" y="960120"/>
            <a:ext cx="3749039" cy="438912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1800">
                <a:solidFill>
                  <a:srgbClr val="172033"/>
                </a:solidFill>
              </a:rPr>
              <a:t>Success definition is an approximation, not real revenue</a:t>
            </a:r>
          </a:p>
          <a:p>
            <a:pPr marL="342900" indent="-171450">
              <a:buChar char="•"/>
            </a:pPr>
            <a:r>
              <a:rPr lang="en-US" sz="1800">
                <a:solidFill>
                  <a:srgbClr val="172033"/>
                </a:solidFill>
              </a:rPr>
              <a:t>SVM probability should be calibrated by retraining with probability=True</a:t>
            </a:r>
          </a:p>
          <a:p>
            <a:pPr marL="342900" indent="-171450">
              <a:buChar char="•"/>
            </a:pPr>
            <a:r>
              <a:rPr lang="en-US" sz="1800">
                <a:solidFill>
                  <a:srgbClr val="172033"/>
                </a:solidFill>
              </a:rPr>
              <a:t>Future work: GridSearchCV, ROC-AUC, more features, online deployment</a:t>
            </a:r>
          </a:p>
          <a:p>
            <a:pPr marL="342900" indent="-171450">
              <a:buChar char="•"/>
            </a:pPr>
            <a:r>
              <a:rPr lang="en-US" sz="1800">
                <a:solidFill>
                  <a:srgbClr val="172033"/>
                </a:solidFill>
              </a:rPr>
              <a:t>Project demonstrates the full ML pipeline from data to deployment</a:t>
            </a:r>
          </a:p>
        </p:txBody>
      </p:sp>
      <p:pic>
        <p:nvPicPr>
          <p:cNvPr id="5" name="streamlit_unsuccessful_prediction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4343400" y="1051560"/>
            <a:ext cx="5166360" cy="5166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team ML Theme">
  <a:themeElements>
    <a:clrScheme name="Office">
      <a:dk1>
        <a:srgbClr val="172033"/>
      </a:dk1>
      <a:lt1>
        <a:srgbClr val="FFFFFF"/>
      </a:lt1>
      <a:dk2>
        <a:srgbClr val="44546A"/>
      </a:dk2>
      <a:lt2>
        <a:srgbClr val="F5F7FB"/>
      </a:lt2>
      <a:accent1>
        <a:srgbClr val="2563EB"/>
      </a:accent1>
      <a:accent2>
        <a:srgbClr val="22C55E"/>
      </a:accent2>
      <a:accent3>
        <a:srgbClr val="F97316"/>
      </a:accent3>
      <a:accent4>
        <a:srgbClr val="A78BFA"/>
      </a:accent4>
      <a:accent5>
        <a:srgbClr val="38BDF8"/>
      </a:accent5>
      <a:accent6>
        <a:srgbClr val="EF4444"/>
      </a:accent6>
      <a:hlink>
        <a:srgbClr val="2563EB"/>
      </a:hlink>
      <a:folHlink>
        <a:srgbClr val="7C3AED"/>
      </a:folHlink>
    </a:clrScheme>
    <a:fontScheme name="Office">
      <a:majorFont>
        <a:latin typeface="Aptos Display"/>
      </a:majorFont>
      <a:minorFont>
        <a:latin typeface="Aptos"/>
      </a:minorFont>
    </a:fontScheme>
    <a:fmtScheme name="Office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12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Steam Game Success Predictor</dc:title>
  <dc:creator>Codex</dc:creator>
  <cp:lastModifiedBy>Codex</cp:lastModifiedBy>
</cp:coreProperties>
</file>