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/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2FBEF0-0E56-4527-9459-A17E7D65EDC6}" v="4" dt="2026-06-09T18:45:25.7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5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153400" y="1128094"/>
            <a:ext cx="3434180" cy="14152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Steam Game Success Predictor</a:t>
            </a:r>
          </a:p>
        </p:txBody>
      </p:sp>
      <p:pic>
        <p:nvPicPr>
          <p:cNvPr id="6" name="Picture 5" descr="Лес с толстым туман">
            <a:extLst>
              <a:ext uri="{FF2B5EF4-FFF2-40B4-BE49-F238E27FC236}">
                <a16:creationId xmlns:a16="http://schemas.microsoft.com/office/drawing/2014/main" id="{108CC7F5-E6D4-ABC6-D551-D7BD56CF72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558" r="3288" b="-1"/>
          <a:stretch>
            <a:fillRect/>
          </a:stretch>
        </p:blipFill>
        <p:spPr>
          <a:xfrm>
            <a:off x="-9886" y="10"/>
            <a:ext cx="7572605" cy="685799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49EDD1B-F94D-B4E6-ACAA-566B9A26F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9939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3"/>
          <p:cNvSpPr txBox="1"/>
          <p:nvPr/>
        </p:nvSpPr>
        <p:spPr>
          <a:xfrm>
            <a:off x="8153400" y="2543364"/>
            <a:ext cx="3434180" cy="3599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KNN, SVM, Random Forest and Deep Learning</a:t>
            </a:r>
            <a:endParaRPr lang="ru-RU" sz="20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ru-RU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Author: </a:t>
            </a:r>
            <a:r>
              <a:rPr lang="en-US" sz="20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Mussin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0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Yesbol</a:t>
            </a:r>
            <a:endParaRPr lang="en-US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Professor: </a:t>
            </a:r>
            <a:r>
              <a:rPr lang="" sz="2000" dirty="0"/>
              <a:t>Piotr Wozniak</a:t>
            </a:r>
          </a:p>
          <a:p>
            <a:pPr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" sz="20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Module: </a:t>
            </a:r>
            <a:r>
              <a:rPr lang="" sz="2000" dirty="0"/>
              <a:t>Machine learning in Python</a:t>
            </a:r>
            <a:endParaRPr lang="en-US" sz="20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Bullets 4"/>
          <p:cNvSpPr txBox="1"/>
          <p:nvPr/>
        </p:nvSpPr>
        <p:spPr>
          <a:xfrm>
            <a:off x="502920" y="3817398"/>
            <a:ext cx="3749039" cy="1897602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spcAft>
                <a:spcPts val="600"/>
              </a:spcAft>
              <a:buChar char="•"/>
            </a:pPr>
            <a:r>
              <a:rPr lang="en-US" sz="1800" dirty="0">
                <a:solidFill>
                  <a:srgbClr val="172033"/>
                </a:solidFill>
              </a:rPr>
              <a:t>Binary classification project based on Steam game data</a:t>
            </a:r>
            <a:endParaRPr lang="en-US" sz="1800">
              <a:solidFill>
                <a:srgbClr val="172033"/>
              </a:solidFill>
            </a:endParaRPr>
          </a:p>
          <a:p>
            <a:pPr marL="342900" indent="-171450">
              <a:spcAft>
                <a:spcPts val="600"/>
              </a:spcAft>
              <a:buChar char="•"/>
            </a:pPr>
            <a:r>
              <a:rPr lang="en-US" sz="1800" dirty="0">
                <a:solidFill>
                  <a:srgbClr val="172033"/>
                </a:solidFill>
              </a:rPr>
              <a:t>Four trained models compared in one </a:t>
            </a:r>
            <a:r>
              <a:rPr lang="en-US" sz="1800" dirty="0" err="1">
                <a:solidFill>
                  <a:srgbClr val="172033"/>
                </a:solidFill>
              </a:rPr>
              <a:t>Streamlit</a:t>
            </a:r>
            <a:r>
              <a:rPr lang="en-US" sz="1800" dirty="0">
                <a:solidFill>
                  <a:srgbClr val="172033"/>
                </a:solidFill>
              </a:rPr>
              <a:t> deployment</a:t>
            </a:r>
            <a:endParaRPr lang="en-US" sz="1800">
              <a:solidFill>
                <a:srgbClr val="172033"/>
              </a:solidFill>
            </a:endParaRPr>
          </a:p>
          <a:p>
            <a:pPr marL="342900" indent="-171450">
              <a:spcAft>
                <a:spcPts val="600"/>
              </a:spcAft>
              <a:buChar char="•"/>
            </a:pPr>
            <a:r>
              <a:rPr lang="en-US" sz="1800" dirty="0">
                <a:solidFill>
                  <a:srgbClr val="172033"/>
                </a:solidFill>
              </a:rPr>
              <a:t>Includes evaluation, cross-validation and documentation</a:t>
            </a:r>
            <a:endParaRPr lang="en-US" sz="1800">
              <a:solidFill>
                <a:srgbClr val="172033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81013" y="3752849"/>
            <a:ext cx="3290887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</a:t>
            </a:r>
          </a:p>
        </p:txBody>
      </p:sp>
      <p:pic>
        <p:nvPicPr>
          <p:cNvPr id="5" name="ml_workflow_diagram.png"/>
          <p:cNvPicPr/>
          <p:nvPr/>
        </p:nvPicPr>
        <p:blipFill>
          <a:blip r:embed="rId2"/>
          <a:srcRect l="11884" r="225" b="1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4" name="Bullets 4"/>
          <p:cNvSpPr txBox="1"/>
          <p:nvPr/>
        </p:nvSpPr>
        <p:spPr>
          <a:xfrm>
            <a:off x="4223982" y="3752850"/>
            <a:ext cx="7485413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Predict whether a Steam game is successful or not successful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 numerical features such as reviews, playtime, price and CCU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Compare classical ML models with a neural network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Deploy all models in a single interactive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BFA83-D4DB-4CA0-B229-9E44634D7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A515A1-4D80-430E-BE0A-71A290516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extBox 2"/>
          <p:cNvSpPr txBox="1"/>
          <p:nvPr/>
        </p:nvSpPr>
        <p:spPr>
          <a:xfrm>
            <a:off x="6597016" y="905011"/>
            <a:ext cx="4589328" cy="18891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Dataset and Target Variable</a:t>
            </a:r>
          </a:p>
        </p:txBody>
      </p:sp>
      <p:pic>
        <p:nvPicPr>
          <p:cNvPr id="5" name="target_distribution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20807" y="1715762"/>
            <a:ext cx="5468347" cy="3417716"/>
          </a:xfrm>
          <a:prstGeom prst="rect">
            <a:avLst/>
          </a:prstGeom>
        </p:spPr>
      </p:pic>
      <p:sp>
        <p:nvSpPr>
          <p:cNvPr id="4" name="Bullets 4"/>
          <p:cNvSpPr txBox="1"/>
          <p:nvPr/>
        </p:nvSpPr>
        <p:spPr>
          <a:xfrm>
            <a:off x="6597016" y="2965592"/>
            <a:ext cx="4589328" cy="2987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Target variable: success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Success is based on rating ratio and concurrent user activity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Leakage columns are removed from improved models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BFA83-D4DB-4CA0-B229-9E44634D7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A515A1-4D80-430E-BE0A-71A290516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extBox 2"/>
          <p:cNvSpPr txBox="1"/>
          <p:nvPr/>
        </p:nvSpPr>
        <p:spPr>
          <a:xfrm>
            <a:off x="6597016" y="905011"/>
            <a:ext cx="4589328" cy="18891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Preprocessing in Jupyter</a:t>
            </a:r>
          </a:p>
        </p:txBody>
      </p:sp>
      <p:pic>
        <p:nvPicPr>
          <p:cNvPr id="5" name="notebook_target_preprocessing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20807" y="2084875"/>
            <a:ext cx="5468347" cy="2679490"/>
          </a:xfrm>
          <a:prstGeom prst="rect">
            <a:avLst/>
          </a:prstGeom>
        </p:spPr>
      </p:pic>
      <p:sp>
        <p:nvSpPr>
          <p:cNvPr id="4" name="Bullets 4"/>
          <p:cNvSpPr txBox="1"/>
          <p:nvPr/>
        </p:nvSpPr>
        <p:spPr>
          <a:xfrm>
            <a:off x="6597016" y="2965592"/>
            <a:ext cx="4589328" cy="2987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 rating_ratio and success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 text columns and leakage-related columns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Prepare final feature matrix for model training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7239014" y="525982"/>
            <a:ext cx="4282983" cy="12003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Implemented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odel_accuracy_comparison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76244" y="1750790"/>
            <a:ext cx="5628018" cy="31235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Bullets 4"/>
          <p:cNvSpPr txBox="1"/>
          <p:nvPr/>
        </p:nvSpPr>
        <p:spPr>
          <a:xfrm>
            <a:off x="7239012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KNN: distance-based baseline model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SVM: RBF kernel with balanced class weights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Random Forest: tree ensemble for tabular data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Deep Learning: dense neural network with sigmoid output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notebook_knn_cod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21676" y="1020757"/>
            <a:ext cx="3874124" cy="1849894"/>
          </a:xfrm>
          <a:prstGeom prst="rect">
            <a:avLst/>
          </a:prstGeom>
        </p:spPr>
      </p:pic>
      <p:pic>
        <p:nvPicPr>
          <p:cNvPr id="6" name="notebook_random_forest_cod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621676" y="3959566"/>
            <a:ext cx="3874124" cy="1898321"/>
          </a:xfrm>
          <a:prstGeom prst="rect">
            <a:avLst/>
          </a:prstGeom>
        </p:spPr>
      </p:pic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76029" y="623275"/>
            <a:ext cx="6570797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5465659" y="1188637"/>
            <a:ext cx="5642312" cy="1597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Classical ML Notebook Code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5465660" y="2998278"/>
            <a:ext cx="4505654" cy="27281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KNN and SVM use StandardScaler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Random Forest uses class_weight='balanced'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Models are evaluated with accuracy, classification report and confusion matrix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7239014" y="525982"/>
            <a:ext cx="4282983" cy="12003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Deep Learning Model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notebook_deep_learning_cod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76244" y="1483459"/>
            <a:ext cx="5628018" cy="365821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Bullets 4"/>
          <p:cNvSpPr txBox="1"/>
          <p:nvPr/>
        </p:nvSpPr>
        <p:spPr>
          <a:xfrm>
            <a:off x="7239012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Neural network built with TensorFlow/Keras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Dense layers with ReLU activations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Sigmoid output for binary classification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deep_learning_training_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866706" y="623275"/>
            <a:ext cx="4808834" cy="2644859"/>
          </a:xfrm>
          <a:prstGeom prst="rect">
            <a:avLst/>
          </a:prstGeom>
        </p:spPr>
      </p:pic>
      <p:pic>
        <p:nvPicPr>
          <p:cNvPr id="5" name="deep_learning_training_1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866705" y="3586297"/>
            <a:ext cx="4808836" cy="2644860"/>
          </a:xfrm>
          <a:prstGeom prst="rect">
            <a:avLst/>
          </a:prstGeom>
        </p:spPr>
      </p:pic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6A5A31-B10A-4793-84D4-D785959AE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5201" y="623275"/>
            <a:ext cx="5141626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6889833" y="1188637"/>
            <a:ext cx="4218138" cy="1597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Deep Learning Training Curves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889832" y="2998278"/>
            <a:ext cx="3709743" cy="19593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Accuracy increases during training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Validation loss suggests possible later overfitting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 test accuracy is approximately 0.763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7239014" y="525982"/>
            <a:ext cx="4282983" cy="12003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Cross-Validation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de_cross_validation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76244" y="1891490"/>
            <a:ext cx="5628018" cy="284214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Bullets 4"/>
          <p:cNvSpPr txBox="1"/>
          <p:nvPr/>
        </p:nvSpPr>
        <p:spPr>
          <a:xfrm>
            <a:off x="7239012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Added to KNN, SVM and Random Forest notebooks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Mean accuracy shows average model performance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Standard deviation shows model stability between folds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KNN and SVM use Pipeline to avoid scaling leakage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treamlit_successful_prediction.png"/>
          <p:cNvPicPr/>
          <p:nvPr/>
        </p:nvPicPr>
        <p:blipFill>
          <a:blip r:embed="rId2"/>
          <a:srcRect r="2384" b="2"/>
          <a:stretch>
            <a:fillRect/>
          </a:stretch>
        </p:blipFill>
        <p:spPr>
          <a:xfrm>
            <a:off x="621675" y="623275"/>
            <a:ext cx="5474323" cy="5607882"/>
          </a:xfrm>
          <a:prstGeom prst="rect">
            <a:avLst/>
          </a:prstGeom>
        </p:spPr>
      </p:pic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6A5A31-B10A-4793-84D4-D785959AE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5201" y="623275"/>
            <a:ext cx="5141626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6889833" y="1188637"/>
            <a:ext cx="4218138" cy="1597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Combined Streamlit Deployment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889831" y="2998278"/>
            <a:ext cx="3917505" cy="18937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Root app.py loads all four saved models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One input form is shared by all models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Results are shown side by side with probability or 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extBox 2"/>
          <p:cNvSpPr txBox="1"/>
          <p:nvPr/>
        </p:nvSpPr>
        <p:spPr>
          <a:xfrm>
            <a:off x="1246824" y="643467"/>
            <a:ext cx="4772975" cy="18005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Deployment Code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1246824" y="2623381"/>
            <a:ext cx="4772974" cy="3553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Models and scalers are loaded from project folders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SVM uses decision_function because it was trained without probability=True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Preset buttons fill examples for successful and unsuccessful games</a:t>
            </a:r>
          </a:p>
        </p:txBody>
      </p:sp>
      <p:pic>
        <p:nvPicPr>
          <p:cNvPr id="5" name="code_combined_deploymen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7700211" y="694128"/>
            <a:ext cx="3848322" cy="2443684"/>
          </a:xfrm>
          <a:prstGeom prst="rect">
            <a:avLst/>
          </a:prstGeom>
        </p:spPr>
      </p:pic>
      <p:pic>
        <p:nvPicPr>
          <p:cNvPr id="6" name="code_prediction_logic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700211" y="3699650"/>
            <a:ext cx="3848322" cy="250140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2"/>
          <p:cNvSpPr txBox="1"/>
          <p:nvPr/>
        </p:nvSpPr>
        <p:spPr>
          <a:xfrm>
            <a:off x="6657715" y="467271"/>
            <a:ext cx="4195674" cy="205252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Limitations and Future Work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treamlit_unsuccessful_prediction.png"/>
          <p:cNvPicPr/>
          <p:nvPr/>
        </p:nvPicPr>
        <p:blipFill>
          <a:blip r:embed="rId2"/>
          <a:srcRect r="-3" b="-3"/>
          <a:stretch>
            <a:fillRect/>
          </a:stretch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14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Bullets 4"/>
          <p:cNvSpPr txBox="1"/>
          <p:nvPr/>
        </p:nvSpPr>
        <p:spPr>
          <a:xfrm>
            <a:off x="6657715" y="2990818"/>
            <a:ext cx="4195673" cy="2913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kern="1200">
                <a:solidFill>
                  <a:schemeClr val="tx1">
                    <a:alpha val="80000"/>
                  </a:schemeClr>
                </a:solidFill>
                <a:latin typeface="+mn-lt"/>
                <a:ea typeface="+mn-ea"/>
                <a:cs typeface="+mn-cs"/>
              </a:rPr>
              <a:t>Success definition is an approximation, not real revenue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kern="1200">
                <a:solidFill>
                  <a:schemeClr val="tx1">
                    <a:alpha val="80000"/>
                  </a:schemeClr>
                </a:solidFill>
                <a:latin typeface="+mn-lt"/>
                <a:ea typeface="+mn-ea"/>
                <a:cs typeface="+mn-cs"/>
              </a:rPr>
              <a:t>SVM probability should be calibrated by retraining with probability=True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kern="1200">
                <a:solidFill>
                  <a:schemeClr val="tx1">
                    <a:alpha val="80000"/>
                  </a:schemeClr>
                </a:solidFill>
                <a:latin typeface="+mn-lt"/>
                <a:ea typeface="+mn-ea"/>
                <a:cs typeface="+mn-cs"/>
              </a:rPr>
              <a:t>Future work: GridSearchCV, ROC-AUC, more features, online deployment</a:t>
            </a:r>
          </a:p>
          <a:p>
            <a:pPr marL="34290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kern="1200">
                <a:solidFill>
                  <a:schemeClr val="tx1">
                    <a:alpha val="80000"/>
                  </a:schemeClr>
                </a:solidFill>
                <a:latin typeface="+mn-lt"/>
                <a:ea typeface="+mn-ea"/>
                <a:cs typeface="+mn-cs"/>
              </a:rPr>
              <a:t>Project demonstrates the full ML pipeline from data to deployment</a:t>
            </a:r>
          </a:p>
        </p:txBody>
      </p:sp>
      <p:sp>
        <p:nvSpPr>
          <p:cNvPr id="18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9">
            <a:extLst>
              <a:ext uri="{FF2B5EF4-FFF2-40B4-BE49-F238E27FC236}">
                <a16:creationId xmlns:a16="http://schemas.microsoft.com/office/drawing/2014/main" id="{20366137-3DBB-4912-98D5-672702020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11">
            <a:extLst>
              <a:ext uri="{FF2B5EF4-FFF2-40B4-BE49-F238E27FC236}">
                <a16:creationId xmlns:a16="http://schemas.microsoft.com/office/drawing/2014/main" id="{5D28D1CE-5BF4-45B7-8D6D-B31A31980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775791" cy="6857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DC34E3-B695-2FF2-0A18-EBAB6896D874}"/>
              </a:ext>
            </a:extLst>
          </p:cNvPr>
          <p:cNvSpPr txBox="1">
            <a:spLocks/>
          </p:cNvSpPr>
          <p:nvPr/>
        </p:nvSpPr>
        <p:spPr>
          <a:xfrm>
            <a:off x="773526" y="685801"/>
            <a:ext cx="3228738" cy="145470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49F7EF23-44EE-289F-25C8-2EC50F83168E}"/>
              </a:ext>
            </a:extLst>
          </p:cNvPr>
          <p:cNvSpPr txBox="1">
            <a:spLocks/>
          </p:cNvSpPr>
          <p:nvPr/>
        </p:nvSpPr>
        <p:spPr>
          <a:xfrm>
            <a:off x="773526" y="2427382"/>
            <a:ext cx="3228738" cy="368102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algn="ctr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rgbClr val="595959"/>
                </a:solidFill>
                <a:latin typeface="+mn-lt"/>
                <a:ea typeface="+mn-ea"/>
                <a:cs typeface="+mn-cs"/>
              </a:rPr>
              <a:t>It was pleasure for me working with nice people of RzIT and make a lot of projects together </a:t>
            </a:r>
          </a:p>
          <a:p>
            <a:pPr indent="-228600" algn="ctr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kern="1200">
                <a:solidFill>
                  <a:srgbClr val="595959"/>
                </a:solidFill>
                <a:latin typeface="+mn-lt"/>
                <a:ea typeface="+mn-ea"/>
                <a:cs typeface="+mn-cs"/>
              </a:rPr>
              <a:t>P.S. Besides this project i really liked working on the PerfMon project and robot </a:t>
            </a:r>
            <a:r>
              <a:rPr lang="en-US" sz="2000" b="1" kern="1200">
                <a:solidFill>
                  <a:srgbClr val="595959"/>
                </a:solidFill>
                <a:latin typeface="+mn-lt"/>
                <a:ea typeface="+mn-ea"/>
                <a:cs typeface="+mn-cs"/>
              </a:rPr>
              <a:t>ALF I</a:t>
            </a:r>
            <a:r>
              <a:rPr lang="en-US" sz="2000" kern="1200">
                <a:solidFill>
                  <a:srgbClr val="595959"/>
                </a:solidFill>
                <a:latin typeface="+mn-lt"/>
                <a:ea typeface="+mn-ea"/>
                <a:cs typeface="+mn-cs"/>
              </a:rPr>
              <a:t> (Alf Pierwszy)</a:t>
            </a:r>
          </a:p>
        </p:txBody>
      </p:sp>
      <p:pic>
        <p:nvPicPr>
          <p:cNvPr id="4" name="WhatsApp Video 2026-06-01 at 21.01.45">
            <a:hlinkClick r:id="" action="ppaction://media"/>
            <a:extLst>
              <a:ext uri="{FF2B5EF4-FFF2-40B4-BE49-F238E27FC236}">
                <a16:creationId xmlns:a16="http://schemas.microsoft.com/office/drawing/2014/main" id="{FA31419C-E085-9751-FD74-E4962E55D95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56274" y="817329"/>
            <a:ext cx="2938131" cy="5223344"/>
          </a:xfrm>
          <a:prstGeom prst="rect">
            <a:avLst/>
          </a:prstGeom>
        </p:spPr>
      </p:pic>
      <p:pic>
        <p:nvPicPr>
          <p:cNvPr id="3" name="Рисунок 2" descr="ProtoLab - Elektroniki i Technologii Informacyjnych &amp; Rzeszowska Grupa IT">
            <a:extLst>
              <a:ext uri="{FF2B5EF4-FFF2-40B4-BE49-F238E27FC236}">
                <a16:creationId xmlns:a16="http://schemas.microsoft.com/office/drawing/2014/main" id="{BB08F169-5727-8F6F-14A9-DCFD2798B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383" y="2443392"/>
            <a:ext cx="2953135" cy="19712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78A74B-E2A6-48EB-4E0D-47D6ED8A5BEC}"/>
              </a:ext>
            </a:extLst>
          </p:cNvPr>
          <p:cNvSpPr txBox="1"/>
          <p:nvPr/>
        </p:nvSpPr>
        <p:spPr>
          <a:xfrm>
            <a:off x="8895425" y="506027"/>
            <a:ext cx="25230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Video, can be seen after downloading the file from google drive</a:t>
            </a:r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FD466C8D-106F-7A60-3B4F-FB8EE00C8522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655728" y="1429357"/>
            <a:ext cx="1501222" cy="443831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313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10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432</Words>
  <Application>Microsoft Office PowerPoint</Application>
  <PresentationFormat>Широкоэкранный</PresentationFormat>
  <Paragraphs>61</Paragraphs>
  <Slides>13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5" baseType="lpstr"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Steam Game Success Predictor</dc:title>
  <dc:creator>Codex</dc:creator>
  <cp:lastModifiedBy>Esbol Musin</cp:lastModifiedBy>
  <cp:revision>4</cp:revision>
  <dcterms:modified xsi:type="dcterms:W3CDTF">2026-06-09T19:03:14Z</dcterms:modified>
</cp:coreProperties>
</file>